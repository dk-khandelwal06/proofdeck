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6039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3200400"/>
            <a:ext cx="5852160" cy="5852160"/>
          </a:xfrm>
          <a:prstGeom prst="ellipse">
            <a:avLst/>
          </a:prstGeom>
          <a:ln w="15875">
            <a:solidFill>
              <a:srgbClr val="6E56CF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4023360"/>
            <a:ext cx="4206240" cy="4206240"/>
          </a:xfrm>
          <a:prstGeom prst="ellipse">
            <a:avLst/>
          </a:prstGeom>
          <a:ln w="15875">
            <a:solidFill>
              <a:srgbClr val="4DA8FF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5715000"/>
            <a:ext cx="822960" cy="822960"/>
          </a:xfrm>
          <a:prstGeom prst="ellipse">
            <a:avLst/>
          </a:prstGeom>
          <a:solidFill>
            <a:srgbClr val="6E56C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48640"/>
            <a:ext cx="4434840" cy="384048"/>
          </a:xfrm>
          <a:prstGeom prst="roundRect">
            <a:avLst>
              <a:gd name="adj" fmla="val 50000"/>
            </a:avLst>
          </a:prstGeom>
          <a:solidFill>
            <a:srgbClr val="141A33"/>
          </a:solidFill>
          <a:ln w="12700">
            <a:solidFill>
              <a:srgbClr val="2A3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SAARTHI '26 · NATIONAL ENTREPRENEURSHIP CHALLENGE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r>
              <a:rPr lang="en-US" sz="8000" b="1" dirty="0">
                <a:solidFill>
                  <a:srgbClr val="4D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58368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claiming skills. Start proving them.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verified, evidence-linked skill portfolio built from a student's real project history — so credibility isn't self-reported anymore.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" y="5257800"/>
            <a:ext cx="2011680" cy="0"/>
          </a:xfrm>
          <a:prstGeom prst="line">
            <a:avLst/>
          </a:prstGeom>
          <a:noFill/>
          <a:ln w="15875">
            <a:solidFill>
              <a:srgbClr val="2A33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540516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Daksh Khandelwal</a:t>
            </a:r>
            <a:b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Khushi Kushwah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58145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B.S. Applied Artificial Intelligence &amp; Data Science  ·  IIT Jodhpur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6062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ProofDeck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resume tells you what someone claims.
</a:t>
            </a:r>
            <a:r>
              <a:rPr lang="en-US" sz="3000" b="1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quickly show you what they actually built.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3154680"/>
            <a:ext cx="3383280" cy="2880360"/>
          </a:xfrm>
          <a:prstGeom prst="roundRect">
            <a:avLst>
              <a:gd name="adj" fmla="val 3810"/>
            </a:avLst>
          </a:prstGeom>
          <a:solidFill>
            <a:srgbClr val="141A33"/>
          </a:solidFill>
          <a:ln w="12700">
            <a:solidFill>
              <a:srgbClr val="2A3357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44728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C22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069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Claim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14400" y="46177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lines like 'Proficient in ML' or 'Expert in Python' — self-reported, and increasingly easy to produce with AI.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rot="5400000">
            <a:off x="4082796" y="4494276"/>
            <a:ext cx="201168" cy="201168"/>
          </a:xfrm>
          <a:prstGeom prst="triangle">
            <a:avLst/>
          </a:prstGeom>
          <a:solidFill>
            <a:srgbClr val="6B7394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3154680"/>
            <a:ext cx="3383280" cy="2880360"/>
          </a:xfrm>
          <a:prstGeom prst="roundRect">
            <a:avLst>
              <a:gd name="adj" fmla="val 3810"/>
            </a:avLst>
          </a:prstGeom>
          <a:solidFill>
            <a:srgbClr val="141A33"/>
          </a:solidFill>
          <a:ln w="12700">
            <a:solidFill>
              <a:srgbClr val="2A3357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344728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C2244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4069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Evidence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617720" y="46177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proof exists — across GitHub repos, commits, Kaggle notebooks, Hugging Face projects — but it's fragmented.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rot="5400000">
            <a:off x="7786116" y="4494276"/>
            <a:ext cx="201168" cy="201168"/>
          </a:xfrm>
          <a:prstGeom prst="triangle">
            <a:avLst/>
          </a:prstGeom>
          <a:solidFill>
            <a:srgbClr val="6B7394"/>
          </a:solidFill>
          <a:ln/>
        </p:spPr>
      </p:sp>
      <p:sp>
        <p:nvSpPr>
          <p:cNvPr id="17" name="Shape 15"/>
          <p:cNvSpPr/>
          <p:nvPr/>
        </p:nvSpPr>
        <p:spPr>
          <a:xfrm>
            <a:off x="8046720" y="3154680"/>
            <a:ext cx="3383280" cy="2880360"/>
          </a:xfrm>
          <a:prstGeom prst="roundRect">
            <a:avLst>
              <a:gd name="adj" fmla="val 3810"/>
            </a:avLst>
          </a:prstGeom>
          <a:solidFill>
            <a:srgbClr val="171E3D"/>
          </a:solidFill>
          <a:ln w="12700">
            <a:solidFill>
              <a:srgbClr val="6E56C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21040" y="344728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6E56CF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21040" y="4069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Uncertainty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321040" y="46177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fast, structured way to connect the claim on the resume to the evidence behind it.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makes polished claims cheap, proof becomes valuable.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10908792" cy="1207008"/>
          </a:xfrm>
          <a:prstGeom prst="roundRect">
            <a:avLst>
              <a:gd name="adj" fmla="val 9091"/>
            </a:avLst>
          </a:prstGeom>
          <a:solidFill>
            <a:srgbClr val="141A33"/>
          </a:solidFill>
          <a:ln w="12700">
            <a:solidFill>
              <a:srgbClr val="2A3357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770632"/>
            <a:ext cx="329184" cy="329184"/>
          </a:xfrm>
          <a:prstGeom prst="triangle">
            <a:avLst/>
          </a:prstGeom>
          <a:solidFill>
            <a:srgbClr val="3DDC97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4963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claims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0" y="2496312"/>
            <a:ext cx="0" cy="877824"/>
          </a:xfrm>
          <a:prstGeom prst="line">
            <a:avLst/>
          </a:prstGeom>
          <a:noFill/>
          <a:ln w="12700">
            <a:solidFill>
              <a:srgbClr val="2A33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89320" y="2331720"/>
            <a:ext cx="523951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Polished, confident resume language is now trivial to produce at scale.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10908792" cy="1207008"/>
          </a:xfrm>
          <a:prstGeom prst="roundRect">
            <a:avLst>
              <a:gd name="adj" fmla="val 9091"/>
            </a:avLst>
          </a:prstGeom>
          <a:solidFill>
            <a:srgbClr val="141A33"/>
          </a:solidFill>
          <a:ln w="12700">
            <a:solidFill>
              <a:srgbClr val="2A3357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 rot="10800000">
            <a:off x="960120" y="4233672"/>
            <a:ext cx="329184" cy="329184"/>
          </a:xfrm>
          <a:prstGeom prst="triangle">
            <a:avLst/>
          </a:prstGeom>
          <a:solidFill>
            <a:srgbClr val="E8637A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3959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in self-reported claims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0" y="3959352"/>
            <a:ext cx="0" cy="877824"/>
          </a:xfrm>
          <a:prstGeom prst="line">
            <a:avLst/>
          </a:prstGeom>
          <a:noFill/>
          <a:ln w="12700">
            <a:solidFill>
              <a:srgbClr val="2A33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3794760"/>
            <a:ext cx="523951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easier a claim is to write, the less it tells a recruiter on its own.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257800"/>
            <a:ext cx="10908792" cy="1207008"/>
          </a:xfrm>
          <a:prstGeom prst="roundRect">
            <a:avLst>
              <a:gd name="adj" fmla="val 9091"/>
            </a:avLst>
          </a:prstGeom>
          <a:solidFill>
            <a:srgbClr val="141A33"/>
          </a:solidFill>
          <a:ln w="12700">
            <a:solidFill>
              <a:srgbClr val="2A3357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5696712"/>
            <a:ext cx="329184" cy="329184"/>
          </a:xfrm>
          <a:prstGeom prst="triangle">
            <a:avLst/>
          </a:prstGeom>
          <a:solidFill>
            <a:srgbClr val="3DDC97"/>
          </a:solidFill>
          <a:ln/>
        </p:spPr>
      </p:sp>
      <p:sp>
        <p:nvSpPr>
          <p:cNvPr id="16" name="Text 14"/>
          <p:cNvSpPr/>
          <p:nvPr/>
        </p:nvSpPr>
        <p:spPr>
          <a:xfrm>
            <a:off x="1554480" y="54223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 evidence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9280" y="5422392"/>
            <a:ext cx="0" cy="877824"/>
          </a:xfrm>
          <a:prstGeom prst="line">
            <a:avLst/>
          </a:prstGeom>
          <a:noFill/>
          <a:ln w="12700">
            <a:solidFill>
              <a:srgbClr val="2A33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5257800"/>
            <a:ext cx="523951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increasingly matters is proof that can be inspected, not just read.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ProofDeck turns real project history into a</a:t>
            </a:r>
            <a:endParaRPr lang="en-US" sz="26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recruiter-trusted skill portfolio.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6035040" cy="896112"/>
          </a:xfrm>
          <a:prstGeom prst="roundRect">
            <a:avLst>
              <a:gd name="adj" fmla="val 12245"/>
            </a:avLst>
          </a:prstGeom>
          <a:solidFill>
            <a:srgbClr val="141A33"/>
          </a:solidFill>
          <a:ln w="12700">
            <a:solidFill>
              <a:srgbClr val="2A3357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26771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/ Project Evidence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 · commits · notebooks · real work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 rot="10800000">
            <a:off x="3566160" y="3054096"/>
            <a:ext cx="182880" cy="182880"/>
          </a:xfrm>
          <a:prstGeom prst="triangle">
            <a:avLst/>
          </a:prstGeom>
          <a:solidFill>
            <a:srgbClr val="6B7394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3246120"/>
            <a:ext cx="6035040" cy="896112"/>
          </a:xfrm>
          <a:prstGeom prst="roundRect">
            <a:avLst>
              <a:gd name="adj" fmla="val 12245"/>
            </a:avLst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336499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ProofDeck Evidence Layer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60120" y="374904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D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context, technologies &amp; contribution signal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 rot="10800000">
            <a:off x="3566160" y="4151376"/>
            <a:ext cx="182880" cy="182880"/>
          </a:xfrm>
          <a:prstGeom prst="triangle">
            <a:avLst/>
          </a:prstGeom>
          <a:solidFill>
            <a:srgbClr val="6B7394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4343400"/>
            <a:ext cx="6035040" cy="896112"/>
          </a:xfrm>
          <a:prstGeom prst="roundRect">
            <a:avLst>
              <a:gd name="adj" fmla="val 12245"/>
            </a:avLst>
          </a:prstGeom>
          <a:solidFill>
            <a:srgbClr val="141A33"/>
          </a:solidFill>
          <a:ln w="12700">
            <a:solidFill>
              <a:srgbClr val="2A3357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446227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Skill Profile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60120" y="484632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Evidence-linked, recruiter-readable signals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 rot="10800000">
            <a:off x="3566160" y="5248656"/>
            <a:ext cx="182880" cy="182880"/>
          </a:xfrm>
          <a:prstGeom prst="triangle">
            <a:avLst/>
          </a:prstGeom>
          <a:solidFill>
            <a:srgbClr val="6B7394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5440680"/>
            <a:ext cx="6035040" cy="896112"/>
          </a:xfrm>
          <a:prstGeom prst="roundRect">
            <a:avLst>
              <a:gd name="adj" fmla="val 12245"/>
            </a:avLst>
          </a:prstGeom>
          <a:solidFill>
            <a:srgbClr val="141A33"/>
          </a:solidFill>
          <a:ln w="12700">
            <a:solidFill>
              <a:srgbClr val="2A3357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555955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60120" y="5943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Inspects the evidence, not just the claim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40880" y="2148840"/>
            <a:ext cx="4526280" cy="4187952"/>
          </a:xfrm>
          <a:prstGeom prst="roundRect">
            <a:avLst>
              <a:gd name="adj" fmla="val 2620"/>
            </a:avLst>
          </a:prstGeom>
          <a:solidFill>
            <a:srgbClr val="171E3D"/>
          </a:solidFill>
          <a:ln w="12700">
            <a:solidFill>
              <a:srgbClr val="6E56C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06640" y="251460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r>
              <a:rPr lang="en-US" sz="16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What you claim.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06640" y="338328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6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What you built.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06640" y="425196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4D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ProofDeck</a:t>
            </a:r>
            <a:r>
              <a:rPr lang="en-US" sz="16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The evidence layer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the two.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06640" y="5138928"/>
            <a:ext cx="3794760" cy="0"/>
          </a:xfrm>
          <a:prstGeom prst="line">
            <a:avLst/>
          </a:prstGeom>
          <a:noFill/>
          <a:ln w="12700">
            <a:solidFill>
              <a:srgbClr val="2A33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530352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replace the resume.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make its claims inspectable.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from raw evidence to a trusted profile.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2487168" cy="2743200"/>
          </a:xfrm>
          <a:prstGeom prst="roundRect">
            <a:avLst>
              <a:gd name="adj" fmla="val 4412"/>
            </a:avLst>
          </a:prstGeom>
          <a:solidFill>
            <a:srgbClr val="141A33"/>
          </a:solidFill>
          <a:ln w="12700">
            <a:solidFill>
              <a:srgbClr val="2A3357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2724912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96112" y="3493008"/>
            <a:ext cx="1975104" cy="0"/>
          </a:xfrm>
          <a:prstGeom prst="line">
            <a:avLst/>
          </a:prstGeom>
          <a:noFill/>
          <a:ln w="12700">
            <a:solidFill>
              <a:srgbClr val="2A33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365760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4096512"/>
            <a:ext cx="197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GitHub and other project sources.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rot="5400000">
            <a:off x="3145536" y="3749040"/>
            <a:ext cx="182880" cy="182880"/>
          </a:xfrm>
          <a:prstGeom prst="triangle">
            <a:avLst/>
          </a:prstGeom>
          <a:solidFill>
            <a:srgbClr val="6B7394"/>
          </a:solidFill>
          <a:ln/>
        </p:spPr>
      </p:sp>
      <p:sp>
        <p:nvSpPr>
          <p:cNvPr id="10" name="Shape 8"/>
          <p:cNvSpPr/>
          <p:nvPr/>
        </p:nvSpPr>
        <p:spPr>
          <a:xfrm>
            <a:off x="3346704" y="2468880"/>
            <a:ext cx="2487168" cy="2743200"/>
          </a:xfrm>
          <a:prstGeom prst="roundRect">
            <a:avLst>
              <a:gd name="adj" fmla="val 4412"/>
            </a:avLst>
          </a:prstGeom>
          <a:solidFill>
            <a:srgbClr val="141A33"/>
          </a:solidFill>
          <a:ln w="12700">
            <a:solidFill>
              <a:srgbClr val="2A3357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02736" y="2724912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602736" y="3493008"/>
            <a:ext cx="1975104" cy="0"/>
          </a:xfrm>
          <a:prstGeom prst="line">
            <a:avLst/>
          </a:prstGeom>
          <a:noFill/>
          <a:ln w="12700">
            <a:solidFill>
              <a:srgbClr val="2A33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02736" y="365760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02736" y="4096512"/>
            <a:ext cx="197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repositories, technologies and contribution context.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rot="5400000">
            <a:off x="5852160" y="3749040"/>
            <a:ext cx="182880" cy="182880"/>
          </a:xfrm>
          <a:prstGeom prst="triangle">
            <a:avLst/>
          </a:prstGeom>
          <a:solidFill>
            <a:srgbClr val="6B7394"/>
          </a:solidFill>
          <a:ln/>
        </p:spPr>
      </p:sp>
      <p:sp>
        <p:nvSpPr>
          <p:cNvPr id="16" name="Shape 14"/>
          <p:cNvSpPr/>
          <p:nvPr/>
        </p:nvSpPr>
        <p:spPr>
          <a:xfrm>
            <a:off x="6053328" y="2468880"/>
            <a:ext cx="2487168" cy="2743200"/>
          </a:xfrm>
          <a:prstGeom prst="roundRect">
            <a:avLst>
              <a:gd name="adj" fmla="val 4412"/>
            </a:avLst>
          </a:prstGeom>
          <a:solidFill>
            <a:srgbClr val="141A33"/>
          </a:solidFill>
          <a:ln w="12700">
            <a:solidFill>
              <a:srgbClr val="2A3357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2724912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6309360" y="3493008"/>
            <a:ext cx="1975104" cy="0"/>
          </a:xfrm>
          <a:prstGeom prst="line">
            <a:avLst/>
          </a:prstGeom>
          <a:noFill/>
          <a:ln w="12700">
            <a:solidFill>
              <a:srgbClr val="2A33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65760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309360" y="4096512"/>
            <a:ext cx="197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raw evidence into understandable skill signals.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rot="5400000">
            <a:off x="8558784" y="3749040"/>
            <a:ext cx="182880" cy="182880"/>
          </a:xfrm>
          <a:prstGeom prst="triangle">
            <a:avLst/>
          </a:prstGeom>
          <a:solidFill>
            <a:srgbClr val="6B7394"/>
          </a:solidFill>
          <a:ln/>
        </p:spPr>
      </p:sp>
      <p:sp>
        <p:nvSpPr>
          <p:cNvPr id="22" name="Shape 20"/>
          <p:cNvSpPr/>
          <p:nvPr/>
        </p:nvSpPr>
        <p:spPr>
          <a:xfrm>
            <a:off x="8759952" y="2468880"/>
            <a:ext cx="2487168" cy="2743200"/>
          </a:xfrm>
          <a:prstGeom prst="roundRect">
            <a:avLst>
              <a:gd name="adj" fmla="val 4412"/>
            </a:avLst>
          </a:prstGeom>
          <a:solidFill>
            <a:srgbClr val="171E3D"/>
          </a:solidFill>
          <a:ln w="12700">
            <a:solidFill>
              <a:srgbClr val="6E56C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015984" y="2724912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D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9015984" y="3493008"/>
            <a:ext cx="1975104" cy="0"/>
          </a:xfrm>
          <a:prstGeom prst="line">
            <a:avLst/>
          </a:prstGeom>
          <a:noFill/>
          <a:ln w="12700">
            <a:solidFill>
              <a:srgbClr val="2A33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15984" y="365760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015984" y="4096512"/>
            <a:ext cx="197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recruiter-ready ProofDeck profile.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recruiter-ready, evidence-backed skill profile.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281160" y="987552"/>
            <a:ext cx="2267712" cy="365760"/>
          </a:xfrm>
          <a:prstGeom prst="roundRect">
            <a:avLst>
              <a:gd name="adj" fmla="val 50000"/>
            </a:avLst>
          </a:prstGeom>
          <a:solidFill>
            <a:srgbClr val="141A33"/>
          </a:solidFill>
          <a:ln w="12700">
            <a:solidFill>
              <a:srgbClr val="2A33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81160" y="987552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4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MVP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908792" cy="4617720"/>
          </a:xfrm>
          <a:prstGeom prst="roundRect">
            <a:avLst>
              <a:gd name="adj" fmla="val 2970"/>
            </a:avLst>
          </a:prstGeom>
          <a:solidFill>
            <a:srgbClr val="141A33"/>
          </a:solidFill>
          <a:ln w="12700">
            <a:solidFill>
              <a:srgbClr val="2A3357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91640"/>
            <a:ext cx="10908792" cy="502920"/>
          </a:xfrm>
          <a:prstGeom prst="roundRect">
            <a:avLst>
              <a:gd name="adj" fmla="val 27273"/>
            </a:avLst>
          </a:prstGeom>
          <a:solidFill>
            <a:srgbClr val="171E3D"/>
          </a:solidFill>
          <a:ln w="12700">
            <a:solidFill>
              <a:srgbClr val="2A33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883664"/>
            <a:ext cx="118872" cy="118872"/>
          </a:xfrm>
          <a:prstGeom prst="ellipse">
            <a:avLst/>
          </a:prstGeom>
          <a:solidFill>
            <a:srgbClr val="E8637A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1883664"/>
            <a:ext cx="118872" cy="118872"/>
          </a:xfrm>
          <a:prstGeom prst="ellipse">
            <a:avLst/>
          </a:prstGeom>
          <a:solidFill>
            <a:srgbClr val="E8B93D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1883664"/>
            <a:ext cx="118872" cy="118872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proofdeck.app/dakshkhandelwal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51560" y="2468880"/>
            <a:ext cx="658368" cy="658368"/>
          </a:xfrm>
          <a:prstGeom prst="ellipse">
            <a:avLst/>
          </a:prstGeom>
          <a:solidFill>
            <a:srgbClr val="6E56CF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7452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Daksh Khandelwal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874520" y="27889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&amp; Data Science  ·  ProofDeck Profile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51560" y="3383280"/>
            <a:ext cx="10085832" cy="841248"/>
          </a:xfrm>
          <a:prstGeom prst="roundRect">
            <a:avLst>
              <a:gd name="adj" fmla="val 13043"/>
            </a:avLst>
          </a:prstGeom>
          <a:solidFill>
            <a:srgbClr val="171E3D"/>
          </a:solidFill>
          <a:ln w="12700">
            <a:solidFill>
              <a:srgbClr val="2A33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34930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25880" y="38404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repo: image-classifier-cnn · 42 commits analyzed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217152" y="3621024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133D30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17152" y="362102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051560" y="4352544"/>
            <a:ext cx="10085832" cy="841248"/>
          </a:xfrm>
          <a:prstGeom prst="roundRect">
            <a:avLst>
              <a:gd name="adj" fmla="val 13043"/>
            </a:avLst>
          </a:prstGeom>
          <a:solidFill>
            <a:srgbClr val="171E3D"/>
          </a:solidFill>
          <a:ln w="12700">
            <a:solidFill>
              <a:srgbClr val="2A33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44622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25880" y="4809744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repo: student-risk-predictor · notebook evidence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217152" y="459028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133D30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17152" y="459028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051560" y="5321808"/>
            <a:ext cx="10085832" cy="841248"/>
          </a:xfrm>
          <a:prstGeom prst="roundRect">
            <a:avLst>
              <a:gd name="adj" fmla="val 13043"/>
            </a:avLst>
          </a:prstGeom>
          <a:solidFill>
            <a:srgbClr val="171E3D"/>
          </a:solidFill>
          <a:ln w="12700">
            <a:solidFill>
              <a:srgbClr val="2A33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25880" y="54315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25880" y="577900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repo: image-classifier-cnn · training pipeline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217152" y="5559552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133D30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17152" y="55595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BUSINESS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students to the modern hiring stack.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01568" cy="1600200"/>
          </a:xfrm>
          <a:prstGeom prst="roundRect">
            <a:avLst>
              <a:gd name="adj" fmla="val 6857"/>
            </a:avLst>
          </a:prstGeom>
          <a:solidFill>
            <a:srgbClr val="141A33"/>
          </a:solidFill>
          <a:ln w="12700">
            <a:solidFill>
              <a:srgbClr val="2A3357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29968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4D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2852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students seeking internships &amp; jobs — CS, AI/DS, engineering, at IIT/NIT and technical colleges.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 rot="5400000">
            <a:off x="4096512" y="2537460"/>
            <a:ext cx="182880" cy="182880"/>
          </a:xfrm>
          <a:prstGeom prst="triangle">
            <a:avLst/>
          </a:prstGeom>
          <a:solidFill>
            <a:srgbClr val="6B7394"/>
          </a:solidFill>
          <a:ln/>
        </p:spPr>
      </p:sp>
      <p:sp>
        <p:nvSpPr>
          <p:cNvPr id="8" name="Shape 6"/>
          <p:cNvSpPr/>
          <p:nvPr/>
        </p:nvSpPr>
        <p:spPr>
          <a:xfrm>
            <a:off x="4334256" y="1828800"/>
            <a:ext cx="3401568" cy="1600200"/>
          </a:xfrm>
          <a:prstGeom prst="roundRect">
            <a:avLst>
              <a:gd name="adj" fmla="val 6857"/>
            </a:avLst>
          </a:prstGeom>
          <a:solidFill>
            <a:srgbClr val="141A33"/>
          </a:solidFill>
          <a:ln w="12700">
            <a:solidFill>
              <a:srgbClr val="2A3357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08576" y="2029968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4D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08576" y="2377440"/>
            <a:ext cx="2852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and placement cells adopt ProofDeck profiles as part of the placement process.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5400000">
            <a:off x="7790688" y="2537460"/>
            <a:ext cx="182880" cy="182880"/>
          </a:xfrm>
          <a:prstGeom prst="triangle">
            <a:avLst/>
          </a:prstGeom>
          <a:solidFill>
            <a:srgbClr val="6B7394"/>
          </a:solidFill>
          <a:ln/>
        </p:spPr>
      </p:sp>
      <p:sp>
        <p:nvSpPr>
          <p:cNvPr id="12" name="Shape 10"/>
          <p:cNvSpPr/>
          <p:nvPr/>
        </p:nvSpPr>
        <p:spPr>
          <a:xfrm>
            <a:off x="8028432" y="1828800"/>
            <a:ext cx="3401568" cy="1600200"/>
          </a:xfrm>
          <a:prstGeom prst="roundRect">
            <a:avLst>
              <a:gd name="adj" fmla="val 6857"/>
            </a:avLst>
          </a:prstGeom>
          <a:solidFill>
            <a:srgbClr val="171E3D"/>
          </a:solidFill>
          <a:ln w="12700">
            <a:solidFill>
              <a:srgbClr val="6E56C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02752" y="2029968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4D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02752" y="2377440"/>
            <a:ext cx="2852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premium subscriptions plus recruiter B2B subscriptions on top of an active profile base.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794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160520"/>
            <a:ext cx="5285232" cy="2148840"/>
          </a:xfrm>
          <a:prstGeom prst="roundRect">
            <a:avLst>
              <a:gd name="adj" fmla="val 5106"/>
            </a:avLst>
          </a:prstGeom>
          <a:solidFill>
            <a:srgbClr val="141A33"/>
          </a:solidFill>
          <a:ln w="12700">
            <a:solidFill>
              <a:srgbClr val="2A3357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4389120"/>
            <a:ext cx="4645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— Freemium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987552" y="4992624"/>
            <a:ext cx="73152" cy="73152"/>
          </a:xfrm>
          <a:prstGeom prst="ellipse">
            <a:avLst/>
          </a:prstGeom>
          <a:solidFill>
            <a:srgbClr val="6E56CF"/>
          </a:solidFill>
          <a:ln/>
        </p:spPr>
      </p:sp>
      <p:sp>
        <p:nvSpPr>
          <p:cNvPr id="19" name="Text 17"/>
          <p:cNvSpPr/>
          <p:nvPr/>
        </p:nvSpPr>
        <p:spPr>
          <a:xfrm>
            <a:off x="1207008" y="4910328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ProofDeck profile: free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87552" y="5431536"/>
            <a:ext cx="73152" cy="73152"/>
          </a:xfrm>
          <a:prstGeom prst="ellipse">
            <a:avLst/>
          </a:prstGeom>
          <a:solidFill>
            <a:srgbClr val="6E56CF"/>
          </a:solidFill>
          <a:ln/>
        </p:spPr>
      </p:sp>
      <p:sp>
        <p:nvSpPr>
          <p:cNvPr id="21" name="Text 19"/>
          <p:cNvSpPr/>
          <p:nvPr/>
        </p:nvSpPr>
        <p:spPr>
          <a:xfrm>
            <a:off x="1207008" y="5349240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analytics &amp; customization: paid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4160520"/>
            <a:ext cx="5285232" cy="2148840"/>
          </a:xfrm>
          <a:prstGeom prst="roundRect">
            <a:avLst>
              <a:gd name="adj" fmla="val 5106"/>
            </a:avLst>
          </a:prstGeom>
          <a:solidFill>
            <a:srgbClr val="141A33"/>
          </a:solidFill>
          <a:ln w="12700">
            <a:solidFill>
              <a:srgbClr val="2A3357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0" y="4389120"/>
            <a:ext cx="4645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— B2B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611112" y="4992624"/>
            <a:ext cx="73152" cy="73152"/>
          </a:xfrm>
          <a:prstGeom prst="ellipse">
            <a:avLst/>
          </a:prstGeom>
          <a:solidFill>
            <a:srgbClr val="6E56CF"/>
          </a:solidFill>
          <a:ln/>
        </p:spPr>
      </p:sp>
      <p:sp>
        <p:nvSpPr>
          <p:cNvPr id="25" name="Text 23"/>
          <p:cNvSpPr/>
          <p:nvPr/>
        </p:nvSpPr>
        <p:spPr>
          <a:xfrm>
            <a:off x="6830568" y="4910328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 evidence-backed candidate profiles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11112" y="5431536"/>
            <a:ext cx="73152" cy="73152"/>
          </a:xfrm>
          <a:prstGeom prst="ellipse">
            <a:avLst/>
          </a:prstGeom>
          <a:solidFill>
            <a:srgbClr val="6E56CF"/>
          </a:solidFill>
          <a:ln/>
        </p:spPr>
      </p:sp>
      <p:sp>
        <p:nvSpPr>
          <p:cNvPr id="27" name="Text 25"/>
          <p:cNvSpPr/>
          <p:nvPr/>
        </p:nvSpPr>
        <p:spPr>
          <a:xfrm>
            <a:off x="6830568" y="5349240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screening support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11112" y="5870448"/>
            <a:ext cx="73152" cy="73152"/>
          </a:xfrm>
          <a:prstGeom prst="ellipse">
            <a:avLst/>
          </a:prstGeom>
          <a:solidFill>
            <a:srgbClr val="6E56CF"/>
          </a:solidFill>
          <a:ln/>
        </p:spPr>
      </p:sp>
      <p:sp>
        <p:nvSpPr>
          <p:cNvPr id="29" name="Text 27"/>
          <p:cNvSpPr/>
          <p:nvPr/>
        </p:nvSpPr>
        <p:spPr>
          <a:xfrm>
            <a:off x="6830568" y="5788152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subscription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BUSINESS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ProofDeck</a:t>
            </a: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designed as the evidence layer between claims and proof.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08792" cy="566928"/>
          </a:xfrm>
          <a:prstGeom prst="roundRect">
            <a:avLst>
              <a:gd name="adj" fmla="val 19355"/>
            </a:avLst>
          </a:prstGeom>
          <a:solidFill>
            <a:srgbClr val="171E3D"/>
          </a:solidFill>
          <a:ln w="12700">
            <a:solidFill>
              <a:srgbClr val="2A33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0" y="1600200"/>
            <a:ext cx="183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/ LinkedIn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041898" y="1600200"/>
            <a:ext cx="183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877556" y="1600200"/>
            <a:ext cx="183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Tools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786366" y="1655064"/>
            <a:ext cx="1689354" cy="457200"/>
          </a:xfrm>
          <a:prstGeom prst="roundRect">
            <a:avLst>
              <a:gd name="adj" fmla="val 16000"/>
            </a:avLst>
          </a:prstGeom>
          <a:solidFill>
            <a:srgbClr val="6E56CF"/>
          </a:solidFill>
          <a:ln/>
        </p:spPr>
      </p:sp>
      <p:sp>
        <p:nvSpPr>
          <p:cNvPr id="9" name="Text 7"/>
          <p:cNvSpPr/>
          <p:nvPr/>
        </p:nvSpPr>
        <p:spPr>
          <a:xfrm>
            <a:off x="9713214" y="1600200"/>
            <a:ext cx="183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ProofDeck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167128"/>
            <a:ext cx="10908792" cy="566928"/>
          </a:xfrm>
          <a:prstGeom prst="roundRect">
            <a:avLst>
              <a:gd name="adj" fmla="val 19355"/>
            </a:avLst>
          </a:prstGeom>
          <a:solidFill>
            <a:srgbClr val="0D1226"/>
          </a:solidFill>
          <a:ln w="12700">
            <a:solidFill>
              <a:srgbClr val="2A33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1671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06240" y="2167128"/>
            <a:ext cx="183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41898" y="2167128"/>
            <a:ext cx="183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77556" y="2167128"/>
            <a:ext cx="183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786366" y="2203704"/>
            <a:ext cx="1689354" cy="493776"/>
          </a:xfrm>
          <a:prstGeom prst="rect">
            <a:avLst/>
          </a:prstGeom>
          <a:solidFill>
            <a:srgbClr val="6E56CF">
              <a:alpha val="1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713214" y="2167128"/>
            <a:ext cx="183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2734056"/>
            <a:ext cx="10908792" cy="566928"/>
          </a:xfrm>
          <a:prstGeom prst="roundRect">
            <a:avLst>
              <a:gd name="adj" fmla="val 19355"/>
            </a:avLst>
          </a:prstGeom>
          <a:solidFill>
            <a:srgbClr val="111632"/>
          </a:solidFill>
          <a:ln w="12700">
            <a:solidFill>
              <a:srgbClr val="2A33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73405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evidence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06240" y="2734056"/>
            <a:ext cx="183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41898" y="2734056"/>
            <a:ext cx="183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877556" y="2734056"/>
            <a:ext cx="183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B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786366" y="2770632"/>
            <a:ext cx="1689354" cy="493776"/>
          </a:xfrm>
          <a:prstGeom prst="rect">
            <a:avLst/>
          </a:prstGeom>
          <a:solidFill>
            <a:srgbClr val="6E56CF">
              <a:alpha val="1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713214" y="2734056"/>
            <a:ext cx="183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3300984"/>
            <a:ext cx="10908792" cy="566928"/>
          </a:xfrm>
          <a:prstGeom prst="roundRect">
            <a:avLst>
              <a:gd name="adj" fmla="val 19355"/>
            </a:avLst>
          </a:prstGeom>
          <a:solidFill>
            <a:srgbClr val="0D1226"/>
          </a:solidFill>
          <a:ln w="12700">
            <a:solidFill>
              <a:srgbClr val="2A33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30098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format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06240" y="3300984"/>
            <a:ext cx="183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041898" y="3300984"/>
            <a:ext cx="183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877556" y="3300984"/>
            <a:ext cx="183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786366" y="3337560"/>
            <a:ext cx="1689354" cy="493776"/>
          </a:xfrm>
          <a:prstGeom prst="rect">
            <a:avLst/>
          </a:prstGeom>
          <a:solidFill>
            <a:srgbClr val="6E56CF">
              <a:alpha val="1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713214" y="3300984"/>
            <a:ext cx="183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0080" y="3867912"/>
            <a:ext cx="10908792" cy="566928"/>
          </a:xfrm>
          <a:prstGeom prst="roundRect">
            <a:avLst>
              <a:gd name="adj" fmla="val 19355"/>
            </a:avLst>
          </a:prstGeom>
          <a:solidFill>
            <a:srgbClr val="111632"/>
          </a:solidFill>
          <a:ln w="12700">
            <a:solidFill>
              <a:srgbClr val="2A33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386791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Recruiter-oriented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206240" y="3867912"/>
            <a:ext cx="183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B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041898" y="3867912"/>
            <a:ext cx="183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877556" y="3867912"/>
            <a:ext cx="183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B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786366" y="3904488"/>
            <a:ext cx="1689354" cy="493776"/>
          </a:xfrm>
          <a:prstGeom prst="rect">
            <a:avLst/>
          </a:prstGeom>
          <a:solidFill>
            <a:srgbClr val="6E56CF">
              <a:alpha val="12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9713214" y="3867912"/>
            <a:ext cx="183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40080" y="4434840"/>
            <a:ext cx="10908792" cy="566928"/>
          </a:xfrm>
          <a:prstGeom prst="roundRect">
            <a:avLst>
              <a:gd name="adj" fmla="val 19355"/>
            </a:avLst>
          </a:prstGeom>
          <a:solidFill>
            <a:srgbClr val="141A33"/>
          </a:solidFill>
          <a:ln w="12700">
            <a:solidFill>
              <a:srgbClr val="2A33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44348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Evidence-linked skill signals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206240" y="4434840"/>
            <a:ext cx="183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041898" y="4434840"/>
            <a:ext cx="183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877556" y="4434840"/>
            <a:ext cx="183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9786366" y="4471416"/>
            <a:ext cx="1689354" cy="493776"/>
          </a:xfrm>
          <a:prstGeom prst="rect">
            <a:avLst/>
          </a:prstGeom>
          <a:solidFill>
            <a:srgbClr val="6E56CF">
              <a:alpha val="12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9713214" y="4434840"/>
            <a:ext cx="183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1737360" y="5257800"/>
            <a:ext cx="8714232" cy="658368"/>
          </a:xfrm>
          <a:prstGeom prst="roundRect">
            <a:avLst>
              <a:gd name="adj" fmla="val 16667"/>
            </a:avLst>
          </a:prstGeom>
          <a:solidFill>
            <a:srgbClr val="171E3D"/>
          </a:solidFill>
          <a:ln w="12700">
            <a:solidFill>
              <a:srgbClr val="6E56C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965960" y="5257800"/>
            <a:ext cx="8257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don't replace the resume. We make its claims inspectable.”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3840480" cy="3840480"/>
          </a:xfrm>
          <a:prstGeom prst="ellipse">
            <a:avLst/>
          </a:prstGeom>
          <a:ln w="15875">
            <a:solidFill>
              <a:srgbClr val="6E56CF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297680"/>
            <a:ext cx="4572000" cy="4572000"/>
          </a:xfrm>
          <a:prstGeom prst="ellipse">
            <a:avLst/>
          </a:prstGeom>
          <a:ln w="15875">
            <a:solidFill>
              <a:srgbClr val="4DA8FF">
                <a:alpha val="1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51560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hiring shouldn't be about</a:t>
            </a:r>
            <a:endParaRPr lang="en-US" sz="27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writes the best claims.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2110668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should be about who can show the best proof.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94960" y="3063240"/>
            <a:ext cx="1399032" cy="0"/>
          </a:xfrm>
          <a:prstGeom prst="line">
            <a:avLst/>
          </a:prstGeom>
          <a:noFill/>
          <a:ln w="12700">
            <a:solidFill>
              <a:srgbClr val="2A33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33756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r>
              <a:rPr lang="en-US" sz="4600" b="1" dirty="0">
                <a:solidFill>
                  <a:srgbClr val="4D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claiming skills. Start proving them.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776627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Daksh Khandelwal</a:t>
            </a:r>
            <a:b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Khushi Kushwah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5193792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B.Sc. Applied Artificial Intelligence &amp; Data Science  ·  IIT Jodhpur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5806440"/>
            <a:ext cx="1399032" cy="0"/>
          </a:xfrm>
          <a:prstGeom prst="line">
            <a:avLst/>
          </a:prstGeom>
          <a:noFill/>
          <a:ln w="12700">
            <a:solidFill>
              <a:srgbClr val="2A33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98932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proof of technical skill → to an evidence layer for modern hiring.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673</Words>
  <Application>Microsoft Office PowerPoint</Application>
  <PresentationFormat>Widescreen</PresentationFormat>
  <Paragraphs>153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ProofDeck — Saarthi '26 Pitch Deck</dc:title>
  <dc:subject>PptxGenJS Presentation</dc:subject>
  <dc:creator>Daksh Khandelwal</dc:creator>
  <cp:lastModifiedBy>DAKSH KHANDELWAL</cp:lastModifiedBy>
  <cp:revision>4</cp:revision>
  <dcterms:created xsi:type="dcterms:W3CDTF">2026-08-17T17:21:06Z</dcterms:created>
  <dcterms:modified xsi:type="dcterms:W3CDTF">2026-08-18T04:30:47Z</dcterms:modified>
</cp:coreProperties>
</file>